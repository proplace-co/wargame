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à tous. Nous vous présentons aujourd'hui une opportunité d'investissement stratégique avec Proplace, un acteur clé de la PropTech. Notre objectif est de valider si un rachat par un grand groupe immobilier ou bancaire est pertinent et avantageux. Proplace représente un pivot vers la digitalisation de l'immobilier, un mouvement inéluctable.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Proplace est au cœur de la digitalisation du marché immobilier. Ils offrent une plateforme SaaS complète qui simplifie de manière significative la gestion locative. La société est basée à Paris et se trouve en phase de croissance, ayant récemment finalisé sa Série A. Son positionnement comme facilitateuse de la gestion immobilière professionnelle est très fort.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verdict après analyse est une conviction forte avec un score d’85 sur 100. Cette note élevée reflète le potentiel de croissance, la solidité du modèle, et l'alignement stratégique que nous avons identifié pour une acquisition. Le marché est porteur et Proplace possède les atouts pour en devenir un leader.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marché global de la PropTech, et plus spécifiquement le secteur de la gestion immobilière, est en pleine effervescence. Nous allons analyser la taille et la dynamique de ce marché pour comprendre l'environnement dans lequel Proplace opère. C'est un marché où la technologie commence tout juste à transformer les pratiques établies.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marché total adressable (TAM) est estimé à 2,9 milliards d'euros, tiré par la digitalisation rapide du secteur immobilier. Le marché disponible (SAM) est de 1,2 milliard d'euros, se concentrant sur les professionnels de la gestion locative. Le marché obtenable (SOM) est de 300 millions d'euros, avec un potentiel de croissance annuel composé (CAGR) de 19 à 20% sur les cinq prochaines années. Ces chiffres démontrent un espace considérable pour l'expansion.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évaluer la taille du marché, nous avons utilisé une approche 'top-down' en partant de la taille globale du marché immobilier et en affinant vers le segment spécifique de la PropTech de gestion locative. Cette analyse nous a permis de comprendre l'ampleur générale de l'opportunité et de positionner Proplace dans ce contexte. L'image fournit les détails de cette répartition.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parallèle, une approche 'bottom-up' a été menée en analysant le nombre de professionnels de l'immobilier, le nombre de biens gérés et les revenus moyens par unité. Cette méthode a permis de confirmer et d'affiner les estimations obtenues par l'approche 'top-down', offrant une vision plus granulaire et réaliste des opportunités de marché pour Proplace.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L'intersection des approches top-down et bottom-up nous donne une validation solide des chiffres du marché. Nous sommes convaincus que les estimations de TAM, SAM, SOM, et le CAGR sont robustes et reflètent fidèlement le potentiel de croissance pour Proplace, renforçant notre thèse d'investissement.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chaîne de valeur du marché immobilier est complexe. Proplace intervient à des étapes clés, facilitant les opérations et optimisant les processus. Comprendre cette chaîne nous permet de saisir où Proplace crée le plus de valeur et où résident ses avantages compétitifs. Chaque étape de la chaîne de valeur a été évaluée pour son potentiel stratégique.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Proplace excelle notamment dans la gestion administrative, la gestion technique, et l'optimisation des revenus, qui sont des points à fort impact où leur solution apporte une valeur significative. Leur score élevé dans ces domaines souligne leur capacité à disrupter positivement les pratiques existantes et à générer des gains d'efficacité importants pour leurs clients.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trois premières positions stratégiques de Proplace sont la Gestion Administrative, avec un score de 9, grâce à l'automatisation des tâches récurrentes. La Gestion Technique, avec un score de 8, par l'optimisation de la maintenance et des interventions. Et la Gestion Financière, avec un score de 7, pour l'optimisation des flux et la réduction des impayés. Ces positions sont défendables grâce à des algorithmes propriétaires et une intégration profonde aux systèmes clients, garantissant des marges élevées.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avons identifié plusieurs tendances macroéconomiques et sectorielles qui agissent comme des catalyseurs pour Proplace. L'urbanisation croissante, la réglementation immobilière plus complexe et la demande pour des services immobiliers plus efficaces sont des facteurs majeurs. Proplace se positionne parfaitement pour capitaliser sur ces évolutions.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marché actuel est fragmenté avec de nombreux petits acteurs, et quelques grands groupes historiques. Proplace se distingue par son approche technologique et sa capacité à offrir une solution intégrée. Nous avons cartographié les différents intervenants et leur positionnement afin de mieux comprendre l'environnement concurrentiel.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Dans l'analyse des concurrents, Proplace se positionne comme un leader en innovation, offrant une vision claire pour l'avenir de la gestion immobilière. Les challengers peinent à suivre le rythme technologique. Les 'visionnaires' proposent des solutions prometteuses mais moins matures, tandis que les acteurs de niche occupent des segments très spécifiques. Proplace est le challenger qui devient rapidement leader.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Concernant la stratégie M&amp;A, Proplace représente une cible attrayante pour des prédateurs cherchant à acquérir une technologie mature. Les aspirants pourraient envisager des partenariats stratégiques. Les géants de l'immobilier ou de la banque, comme BNP Paribas ou Crédit Agricole, pourraient trouver en Proplace une opportunité. Proplace est une cible idéale pour une acquisition visant à consolider la position d'un grand groupe sur le marché PropTech.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avons identifié plusieurs scénarios d'évolution pour Proplace, allant d'une croissance organique forte à un rachat stratégique. Chaque scénario présente des acteurs clés et des mécanismes d'activation distincts. L'image illustre ces différents chemins stratégiques et les implications associées pour la croissance et la valorisation de l'entreprise.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L'analyse des synergies montre un potentiel significatif pour une acquisition. Le scénario le plus porteur est le rachat par un acteur bancaire ou immobilier majeur, générant 85 M€ de synergies totales. Ces synergies proviennent de réductions de coûts (Hard) et/ou de revenus supplémentaires (Soft) grâce à la mutualisation des ressources et à l'expansion de l'offre. La lecture de ce tableau indique que le potentiel d'intégration et de création de valeur est élevé, justifiant une prime d'acquisition.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Passons maintenant au cœur de l'entreprise, Proplace. Nous allons disséquer en détail son modèle d'affaires, son offre produit, son équipe et l'analyse de son fondateur. C'est cette partie qui nous permettra de comprendre l'exécution stratégique et opérationnelle derrière la vision.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proposition de valeur de Proplace est claire: offrir une solution SaaS complète et intuitive pour les professionnels de l'immobilier. Leurs clients idéaux sont des administrateurs de biens, des syndics de copropriété et des gestionnaires d'actifs. Leur modèle est basé sur des abonnements récurrents, avec des clients fidélisés comme Foncia et Nexity. La capacité à attirer et retenir des clients de cette envergure témoigne de la qualité de leur offre.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produit de Proplace est une plateforme SaaS robuste, offrant des capabilités avancées comme l'automatisation des tâches, le suivi en temps réel des indicateurs clés et l'intégration avec d'autres outils. Leur stack technologique est moderne, avec un front-end en React et un back-end en Python/Django, basé sur une architecture micro-services. Les use cases sont variés, de la gestion des baux à la maintenance prédictive, en passant par la gestion comptable. Les équipes techniques sont hautement qualifiées.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modèle économique de Proplace est solide, avec un ARR qui devrait atteindre entre 15 et 20 M€ en 2024. Le coût d'acquisition client est optimisé à 1,5 K€, pour une valeur vie client de 20 K€. Les flux de revenus sont récurrents, basés sur l'abonnement. Le plan d'affaires prévoit une diversification vers de nouveaux services et une expansion internationale, ce qui élargirait les sources de revenus. Ces métriques démontrent une excellente rentabilité et une croissance maîtrisée.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L'équipe de direction de Proplace est expérimentée et complémentaire. Jean Dupont, le CEO, apporte une vision stratégique affûtée. Marie Curie, la CTO, assure la solidité technologique de la plateforme. Et Pierre Martin, le CCO, pilote la croissance commerciale avec succès. L'organisation est structurée avec 50 % des effectifs dédiés à la R&amp;D, témoignage de la culture d'innovation. L'entreprise compte 120 collaborateurs au total, avec une forte culture d'entreprise.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fondateur, Jean Dupont, est un serial entrepreneur avec une expertise profonde du secteur. Son parcours est jalonné de succès, notamment la création d'une précédente startup revendue à un grand groupe. Cette expérience lui confère une crédibilité et une légitimité fortes. Ses scores en Grit, Exécution, et Vision sont très élevés, ce qui est un atout majeur pour l'entreprise. Son seul 'blind spot' identifié est une tendance à la microgestion, mais il est conscient de cet aspect et travaille à le déléguer.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abordons maintenant l'évaluation stratégique de Proplace : ses forces, faiblesses, opportunités et menaces. Cette analyse complète fournira une vue d'ensemble des défis et des atouts de l'entreprise, ainsi que des actions potentielles pour maximiser sa valeur.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L'évaluation de Proplace se traduit par des scores élevés : 9/10 pour l'excellence de l'équipe, 8/10 pour l'opportunité de marché, 8/10 pour l'innovation produit et 7/10 pour le modèle économique. Proplace propose une solution innovante pour un secteur en forte demande de digitalisation, résolvant des problèmes clés pour les professionnels de l'immobilier en simplifiant leurs opérations et en optimisant leurs revenus. Ses avantages résident dans une technologie robuste, une équipe expérimentée et un positionnement stratégique. L'image récapitule ces scores.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L'analyse SWOT révèle des forces significatives, comme une technologie robuste et une équipe expérimentée, mais également des faiblesses, notamment la dépendance à un marché réglementé et un faible brand awareness hors de France. Les opportunités incluent l'expansion internationale et l'intégration de nouvelles technologies. Les menaces proviennent de l'arrivée de nouveaux concurrents et des changements réglementaires. Cette analyse est cruciale pour définir la stratégie future.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termes de défense, nous devons renforcer la propriété intellectuelle et fidéliser la base client. Pour l'offense, il est vital de capitaliser sur l'innovation produit et de viser l'expansion géographique. Le 'kill shot' serait l'acquisition de petits acteurs pour consolider le marché. Enfin, la remédiation aux faiblesses passe par une diversification des offres et une anticipation des évolutions réglementaires, ainsi qu'une politique de marketing agressif. Ces actions sont essentielles pour sécuriser et accélérer la croissance de Proplace.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thèse d'investissement que nous avançons pour Proplace est de type B, c'est-à-dire stratégique. Un rachat par un acteur majeur du secteur serait le catalyseur d'une forte création de valeur, combinant les forces de Proplace avec la puissance de frappe d'un grand groupe. Ce segment crucial de la présentation énonce la raison d'être de notre recommandation.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thèse d'investissement est de type B - Stratégique. Le rachat de Proplace par un grand acteur bancaire ou immobilier représente une opportunité unique de digitalisation accélérée et de consolidation du marché. Les leviers de création de valeur sont l'intégration des solutions de Proplace, la monétisation des données, et une expansion rapide. Cependant, la fragilité réside dans la dépendance aux fondateurs et dans une fenêtre de marché étroite avant l'émergence d'autres solutions concurrentes. Nous devons agir vite.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L'acquisition de Proplace générerait de nombreuses synergies, tant opérationnelles que stratégiques. Par exemple, des synergies de coûts grâce à la mutualisation des infrastructures (Hard cost), et des synergies de revenus par la vente croisée de services (Revenue). L'impact est majoritairement élevé, avec une réalisation rapide des synergies à court et moyen terme. La difficulté d'implémentation est jugée moyenne. Ces synergies sont un pilier fondamental de notre thèse. </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Bien sûr, toute opportunité d'investissement présente des risques. Les 'deal killers' potentiels pour Proplace incluent la résistance au changement des acteurs traditionnels, l'incapacité à s'adapter aux nouvelles réglementations et la fuite des talents après l'acquisition. Cependant, des mesures d'atténuation sont possibles, comme l'établissement de plans de transition clairs, des incentives financiers pour les équipes clés et une veille réglementaire constante. Ces risques sont identifiés et gérables.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entrons maintenant dans la phase de conviction, où nous synthétisons notre analyse et réaffirmons pourquoi Proplace représente une opportunité exceptionnelle. Cette section solidifie notre recommandation et met en lumière les aspects uniques de cet investissement.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angle d'investissement sur Proplace est de saisir un leader technologique dans un marché en pleine mutation. Le timing est idéal, car la digitalisation du secteur immobilier est inévitable et Proplace offre une solution mature. L'alignement parfait des fondateurs avec la vision à long terme du fonds et de l’acquéreur potentiel est un atout majeur. C'est une convergence rare de facteurs favorables.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synthèse, notre conviction est forte : Proplace est une opportunité d'investissement exceptionnelle, à ne pas manquer. La combinaison d'un marché porteur, d'une solution innovante, d'une équipe de premier plan et d'un potentiel de synergies élevé crée un profil d'investissement très attractif. Les principaux risques identifiés sont gérables et les plans d'atténuation sont robustes. Nous sommes prêts à avancer .</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conclure, abordons les aspects financiers de Proplace. Nous présenterons la valorisation de l'entreprise, ses prévisions de compte de résultats et le retour sur investissement attendu. Ces chiffres sont la concrétisation de notre analyse et justifient le potentiel de création de valeur.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