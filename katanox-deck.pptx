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à tous, et bienvenue. Aujourd'hui, nous allons nous pencher sur Katanox, une fintech qui opère dans l'infrastructure financière automatisée pour le secteur de l'hôtellerie. Notre objectif est de déterminer si Katanox représente une cible d'acquisition stratégique. Nous analyserons en profondeur son positionnement sur le marché, son modèle économique, les forces et faiblesses de son équipe, ainsi que les synergies potentielles. Notre objectif est de voir si cette entreprise, spécialisée dans les paiements B2B et la distribution hôtelière directe, s'aligne sur notre thèse d'investissement et peut créer une valeur significative pour notre groupe. Accrochez-vous, l'analyse est détaillée.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Katanox est une plateforme SaaS qui propose une infrastructure financière pour les règlements directs et la distribution automatisée dans l'industrie hôtelière, principalement en Europe et en Amérique du Nord. Leur mission est de remplacer les systèmes actuels de paiement coûteux et inefficaces par une solution plus directe et automatisée. En somme, Katanox aide les hôtels à recevoir leurs paiements des réservations directement et rapidement, en contournant les intermédiaires traditionnels et les frais élevés associés aux cartes de crédit. C'est une proposition de valeur très spécifique et très pertinente dans le contexte actuel de l'hôtellerie.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Passons à la question cruciale : Katanox, un 'Call' ou un 'Pass' pour notre pipeline M&amp;A ? Sur la base de notre score de pré-sélection, Katanox obtient un 78/100, ce qui la positionne dans la catégorie 'Signal Mixte'. Notre verdict est un 'Consider (M&amp;A)'. Cela signifie que le dossier présente un intérêt stratégique certain, mais nécessite une due diligence approfondie et la levée de plusieurs conditions suspensives avant de pouvoir passer en 'Conviction'. Des challenges importants subsistent notamment sur la résilience du modèle et la couverture fonctionnelle par rapport à notre thèse. Nous allons détailler pourquoi.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l'index de notre présentation. Nous allons d'abord explorer la dynamique du marché, puis plonger dans l'analyse de l'entreprise Katanox elle-même. Ensuite, nous procéderons à une évaluation stratégique de sa proposition. La quatrième partie sera dédiée à notre thèse d'investissement et comment Katanox s'y intègre. Enfin, nous aborderons les aspects financiers et notre conviction, avant de conclure. Chacune de ces sections est conçue pour nous donner une vision complète et étayée du potentiel d'acquisition.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marché de l'infrastructure financière automatisée pour l'hôtellerie est l'un des plus dynamiques du secteur. Ce segment représente aujourd'hui une opportunité considérable pour les acteurs capables de résoudre les inefficiences historiques liées aux paiements et à la distribution. Katanox évolue précisément dans cet espace, en proposant des solutions qui répondent à des besoins pressants du marché. Nous allons voir en détail les chiffres de ce marché, sa chaîne de valeur et les acteurs clés qui y opèrent.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évaluer la taille du marché, nous avons utilisé une approche de triangulation combinant une analyse 'Top-Down' et 'Bottom-Up'. L'approche Top-Down révèle un TAM mondial de 2,9 milliards de dollars, porté par un CAGR de 19-20%. Le marché européen représente déjà 0,85 milliard de dollars, signalant une forte opportunité pour Katanox. Nous allons approfondir cette analyse sur les prochaines diapositives.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analyse Top-Down, effectuée à partir d'entonnoirs de marché, révèle un Marché Total Adressable (TAM) de 2,9 milliards USD pour les plateformes d'orchestration de paiements hôteliers. Notre Marché Adressable de Service (SAM) en Europe s'élève à 0,85 milliard USD, représentant la part spécifique à Katanox. Enfin, notre Marché Obtenable de Service (SOM), l'objectif réaliste à court terme pour Katanox, est fixé à 42,5 millions USD. Ces chiffres montrent un marché vaste et en forte croissance, avec une part significative à conquérir.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L'approche Bottom-Up, basée sur le nombre de clients potentiels et l'économie unitaire, nous donne une perspective complémentaire. En Europe, nous estimons 50 000 établissements hôteliers potentiellement clients, avec un prix moyen annuel de 2 000 € par propriété. Cela nous mène à un Marché Adressable de Service de 100 millions d'euros. Cette estimation, bien que plus conservatrice, valide l'ordre de grandeur des chiffres Top-Down.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comparant les deux approches, on constate une convergence satisfaisante. Le Top-Down indique un SAM européen d'environ 765 millions d'euros, tandis que le Bottom-Up donne 100 millions d'euros. L'écart Bottom-Up étant plus conservateur, cela valide la robustesse de l'estimation de l'ordre de grandeur du marché. Cette triangulation renforce notre confiance dans le potentiel de marché global pour Katanox. Le marché est bel et bien là et il est substantiel.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marché de Katanox s’inscrit dans une chaîne de valeur composée de six étapes distinctes, depuis la gestion des flux de trésorerie initiaux jusqu'au pilotage de la performance. Chaque étape a été scrupuleusement analysée pour sa défendabilité, son potentiel de marge et sa croissance. Nous allons maintenant examiner les détails de chaque étape et identifier les positions clés qui offrent le plus grand avantage stratégique.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 chaîne de valeur que nous avons identifiée pour l'infrastructure financière automatisée de l'hôtellerie, avec les scores stratégiques pour chaque étape. Les étapes les plus attractives sont la facturation et le revenue management à 8.1, suivie de près par les paiements et règlements directs à 8.0 et l'intégration et l'orchestration à 7.2. Les étapes Finance &amp; Trésorerie et Réconciliation &amp; Conformité sont solides, tandis que le Pilotage de la Performance est moins stratégique. Katanox, comme nous allons le voir, se positionne stratégiquement sur plusieurs de ces étapes clés.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analyse des trois meilleures positions stratégiques dans cette chaîne de valeur confirme les opportunités les plus prometteuses. Le Rang 1 est la Facturation et le Revenue Management, avec un score exceptionnel de 8.1. Le Rang 2 est les Paiements et Règlements Directs, également exceptionnel à 8.0. Le Rang 3 est l'Intégration et l'Orchestration à 7.2. Katanox se positionne idéalement sur le deuxième et le troisième rang, ce qui est très pertinent pour notre thèse.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Facturation et le Revenue Management (Score 8.1) est en tête grâce à l'IA, à des marges SaaS élevées et à une croissance entre 16-20% CAGR. La défendabilité forte via des algorithmes propriétaires et des coûts de changement élevés la rend attractive. Les Paiements et Règlements Directs (Score 8.0) est clé par sa défendabilité via effets de réseau et conformité (PSD2/PCI), des marges premiums avec ARPU élevé, et une croissance forte (+19% CAGR). L'Intégration et l'Orchestration (Score 7.2) bénéficie de marges élevées pour les APIs cloud et d'une croissance de 20% CAGR des PMS, avec une défendabilité via son écosystème de partenaires. Ces étapes sont la colonne vertébrale des opportunités d'investissement actuelles dans ce secteur.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marché de l'orchestration des paiements hôteliers est en pleine explosion, propulsé par plusieurs tendances macroéconomiques. La digitalisation post-COVID, l'émergence des wallets numériques, et l'unification européenne des paiements via Wero/EPI agissent comme de puissants catalyseurs. Le TAM mondial atteint 2,9 milliards USD avec un CAGR de 19-20%. Le goulet d'étranglement critique réside dans l'étape des paiements et règlements directs, qui détient un pouvoir de tarification disproportionné. Les acteurs généralistes perdent du terrain au profit de SaaS verticaux spécialisés. Le pool de profits se déplace vers les étapes à fortes marges SaaS.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graphique illustre l'explosion de l'orchestration des paiements en hôtellerie. L'adoption des paiements PAI, l'intégration PMS/ERP et l'unification européenne via Wero/EPI catalysent le passage à la gestion automatisée. Le marché total adressable de 2,9 milliards USD avec un CAGR de 19-20% témoigne d'une croissance rapide. Le goulet d'étranglement critique se situe au niveau des paiements et règlements directs, un point pivot pour la capture de valeur. Les acteurs généralistes sont dépassés, la valeur se déplaçant vers des SaaS verticaux qui optimisent l'économie unitaire.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Dans l'écosystème hôtelier, les acteurs sont classés selon leur taille et leur positionnement stratégique. Nous observons des géants mondiaux comme la Banque de France et Adyen, ainsi que des scale-ups agressives comme Mews et Tebi, et une multitude de startups niches. Katanox se situe dans la catégorie des Innovateurs Émergents et Aspirants. Comprendre ce paysage est essentiel pour identifier les opportunités d'alliances ou d'acquisitions.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 répartition des principaux acteurs de la chaîne de valeur. On observe des Global Giants comme la Banque de France et Adyen, des Large Players comme Worldline et Shiji Group, des Medium Players comme Cloudbeds. Mais aussi de nombreuses Scale-Ups et Niche Players tels Mews, Tebi, Canary Technologies, et bien sûr Katanox. Ces catégories nous aident à mieux comprendre les dynamiques de marché, les forces en présence, et les opportunités pour une entreprise comme Katanox.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Magic Quadrant classifie les entreprises selon leur maturité et leur différenciation. Nous avons identifié 3 'Leaders Établis', 3 'Innovateurs Émergents', et 10 'Early Undifferentiated'. Il n'y a pas d'acteurs matures commoditisés identifiés. Katanox se positionne parmi les innovateurs émergents, ce qui signifie un fort potentiel d'innovation mais un besoin de scaler pour atteindre la pleine maturité. C’est la classification que l’on retrouve souvent pour de jeunes entreprises prometteuses.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Dans le quadrant des Leaders Établis, nous trouvons Mews, Canary Technologies et Tebi. Ce sont des entreprises matures avec une forte différenciation. Elles se distinguent par des plateformes SaaS complètes, des algorithmes propriétaires et des financements substantiels, ce qui leur permet de dominer des segments spécifiques du marché. Ils sont souvent des cibles pour des partenariats ou des acquisitions ou, comme Mews, des prédateurs eux-mêmes.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Innovateurs Émergents incluent Hotelverse, Katanox et Horago. Ces entreprises montrent un fort potentiel de différenciation grâce à des approches innovantes, mais elles sont encore à un stade de maturité précoce. Elles introduisent de nouvelles technologies ou modèles d'affaires dans l'infrastructure financière hôtelière. C’est dans ce quadrant que nous retrouvons Katanox, ce qui justifie notre intérêt particulier.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Dans le Magic Quadrant, aucun acteur n'est identifié comme 'Produits Commoditisés' (maturité élevée et faible différenciation), ce qui est un bon signe du dynamisme du marché. En revanche, le quadrant 'Early Undifferentiated' est peuplé de 10 entreprises, dont ROH, Folio, Prostay, Libeo, Phacet, Profitize, Veridian, Clock, Vitabyte et iOL Pay. Elles sont soit très jeunes, soit proposent des solutions encore peu différenciées. Cela suggère un marché en phase de consolidation avec beaucoup de petits acteurs.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M&amp;A Quadrant nous aide à visualiser les dynamiques de fusion-acquisition dans l'écosystème. Nous avons des 'Prédateurs' comme Oracle et Stripe avec une forte capacité d'acquisition, des 'Aspirants' comme Tebi ou Katanox cherchant à croître, des 'Géants' comme Adyen qui privilégient la croissance organique, et des 'Cibles Potentielles' comme Canary Technologies ou la Banque de France. Se positionner dans ce quadrant permet de mieux anticiper les mouvements de marché.</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quadrant M&amp;A met en lumière les 'Prédateurs' : Oracle Hospitality, Worldline, Stripe, IXOPAY et Mews. Ce sont des acteurs majeurs avec des capacités financières substantielles et une posture active d'acquisition. Ils recherchent des acquisitions pour consolider leur position ou étendre leur écosystème. Mews et IXOPAY, bien que plus petites, adoptent également une posture agressive. Comprendre leurs stratégies est essentiel pour Katanox.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Dans la catégorie des 'Aspirants', nous avons un grand nombre d'entreprises, 19 au total, incluant Tebi, Katanox et Hotelverse. Ces acteurs cherchent à croître de manière opportuniste, souvent avec des capacités financières plus limitées que les prédateurs. Ils peuvent être des startups innovantes cherchant à consolider leur technologie ou à s'intégrer dans des écosystèmes plus vastes. Ce sont des cibles potentielles ou des partenaires pour des entreprises plus grandes.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'Géants' sont Adyen, Cloudbeds et Shiji Group. Malgré leurs ressources considérables, ils se concentrent sur la croissance organique ou les partenariats plutôt que sur les acquisitions agressives. Ils agissent comme des forteresses, renforçant leurs positions existantes et optimisant leurs produits. Leur posture passive sur le front des M&amp;A ne signifie pas inactivité, mais une priorisation différente.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Enfin, les 'Cibles Potentielles' sont Canary Technologies, la Banque de France et Trevium. Ces entreprises, souvent avec une capacité moindre ou une posture passive, pourraient être des cibles d'acquisition ou des partenaires stratégiques. La Banque de France, en tant qu'institution, est une cible unique. Canary Technologies, malgré son financement, privilégie la croissance organique, la rendant potentiellement attractive pour des acquisitions.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scénarios stratégiques révèlent des mouvements complexes d'alliances, d'acquisitions et de confrontations. Les batailles d'acquisition pour Katanox et Canary Technologies sont au cœur des préoccupations. Des alliances inévitables entre Mews et Katanox pourraient dominer les paiements directs. Des menaces d'étranglement pèsent sur Katanox de la part d'Oracle et Mews. Ces dynamiques définissent le futur du paysage concurrentiel.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diagramme résume un ensemble de scénarios stratégiques hypothétiques, mais basés sur des signaux de marché réels. On voit que Katanox est au centre de plusieurs dynamiques, notamment des batailles d'acquisition et des synergies potentielles avec de grands acteurs. Cette visualisation nous aide à anticiper les mouvements stratégiques et à positionner Katanox dans ce jeu d'échecs M&amp;A. Le sujet est brûlant et les opportunités, comme les menaces, sont nombreuses.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Passons maintenant à l'analyse plus concrète de Katanox. Nous allons explorer en détail sa proposition de valeur, son produit, son modèle économique, et bien sûr, l'équipe qui la porte. Cette section est essentielle pour comprendre la raison d'être de Katanox et son potentiel à transformer le marché de l'hôtellerie.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proposition de valeur de Katanox est claire : elle veut remplacer les réseaux de cartes obsolètes de l'hôtellerie par des paiements directs de compte à compte, agissant comme un moteur de croissance pour le voyage. Son ICP se compose d'hôtels, de groupes hôteliers et d'agences de voyages. Katanox est une plateforme B2B opérant dans la FinTech, spécifiquement l'infrastructure financière automatisée pour l'hôtellerie. L'entreprise est basée à Amsterdam, Londres et New York, et a déjà attiré des clients clés comme Travelodge et Wyndham Hotels.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solution de Katanox est une plateforme unifiée qui automatise les paiements, les règlements et la distribution sans intermédiaires. Parmi ses fonctionnalités clés, on trouve les paiements de compte à compte, la réconciliation des commissions, la gestion des stocks en direct et le 'Katanox Capital' pour la liquidité. Techniquement, elle repose sur une infrastructure financière intégrée via API-first, avec des licences PSD2 et FCA, assurant sécurité et conformité. Les cas d'utilisation incluent l'élimination des commissions VCC et l'automatisation des transactions B2B.</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modèle économique de Katanox est hybride : un SaaS avec des services financiers intégrés. La rentabilité est générée par des commissions sur les transactions, des frais sur les avances de fonds (Katanox Capital) et des frais d'accès à la plateforme de distribution. L'ARPU est estimé à environ 2 000 euros annuels par propriété, avec une fourchette entre 1 140 et 3 000 euros. Ce modèle vise à solidifier les revenus récurrents et à valoriser chaque module. Le détail des plans tarifaires spécifiques n'est pas encore public.</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L'équipe de Katanox se distingue par une forte culture d'entreprise, orientée vers l'efficacité et la collaboration. Le leadership est structuré autour de hubs internationaux à Amsterdam, Londres et New York. L'effectif est estimé entre 50 et 150 employés. Ces chiffres et cette organisation sont cruciaux pour une scale-up ayant des ambitions aussi vastes. Le défi ici est de maintenir la cohérence et la culture d'entreprise avec une équipe répartie sur plusieurs fuseaux horaires.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Beukers, CCO et co-fondateur, est l'un des piliers de Katanox. Son pedigree chez Adyen, où il a géré des comptes d'envergure et dirigé le développement produit, lui confère une expertise unique dans les paiements B2B et l'optimisation des processus. Son parcours est celui d'un opérateur commercial qui a su adapter son savoir-faire à l'hôtellerie. Son score ADN est de 84/100, avec une exécution à 90/100, ce qui est très impressionnant. Son point aveugle potentiel réside dans le leadership multiplicateur, moins dans la performance individuelle.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résumé, Katanox est une FinTech d'infrastructure financière automatisée pour l'hôtellerie qui s'attaque à un problème majeur : la réconciliation manuelle des cartes de crédit virtuelles coûte jusqu'à 3% de la marge nette. Leur solution, une plateforme API-first, connecte directement les systèmes de réservation des hôtels aux comptes bancaires B2B, permettant un versement instantané. L'équipe, menée par Paul Beukers, a un fort potentiel, et le marché est en pleine croissance. Notre score de pré-sélection est de 78/100, un 'Signal Mixte' qui justifie un 'Consider (M&amp;A)'.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