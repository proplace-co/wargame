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à tous, aujourd'hui, nous allons vous présenter Proplace, une plateforme PropTech, CRM, qui a retenu notre attention. Nous allons parcourir le marché, le modèle d'affaires, l'évaluation et la thèse d'acquisition pour Proplace afin de vous donner une vision claire de cette opportunité.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Proplace est une plateforme PropTech spécialisée dans le CRM pour les professionnels de l'immobilier, basée à Paris et en pleine phase de croissance. L'objectif de cette réunion est de valider notre score de conviction de 75 sur 100, qui représente une forte opportunité d'acquisition.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analyse du marché a débuté par une approche top-down pour évaluer le TAM, le SAM et le SOM. Nous avons ensuite triangulé ces chiffres avec une approche bottom-up pour confirmer la taille de marché. Cette double approche nous permet d'avoir une vision solide du potentiel de croissance.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marché de la PropTech est en pleine expansion, avec un TAM (Total Addressable Market) estimé à 2,9 Md€ en 2023, avec une croissance annuelle composée (CAGR) de 19 à 20%. Le SAM (Serviceable Available Market) pour Proplace est de 900 M€ et vise un SOM (Serviceable Obtainable Market) de 75 M€ en 2027.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L'approche top-down met en lumière la taille globale du marché. Nous avons utilisé des données de marché pour estimer le potentiel théorique, en identifiant les segments clés et les taux de croissance prévus. Cela nous donne une première indication de l'attractivité du secteur.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L'approche bottom-up nous permet de valider ces chiffres à partir des données micro-économiques. Nous combinons les données sur les utilisateurs finaux, les prix des services et la part de marché anticipée pour Proplace. C'est le point de rencontre entre les données macro et micro.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combinant les deux approches top-down et bottom-up, nous parvenons à une triangulation robuste du marché cible. Cette méthode nous permet de réduire les incertitudes et de confirmer le potentiel de croissance significatif de Proplace dans le secteur de la PropTech.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de la chaîne de valeur du marché immobilier professionnel révèle des opportunités d'intégration et de synergies. Proplace se positionne sur plusieurs étapes clés, renforçant sa proposition de valeur et sa résilience face aux évolutions du marché.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Proplace se distingue par sa capacité à maîtriser plusieurs aspects de la chaîne de valeur immobilière. Notamment la gestion de la relation client et la digitalisation des processus, ce qui lui confère un avantage concurrentiel certain et une forte capacité d'exécution des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tendances de marché confirment l'importance de la digitalisation et de la consolidation dans l'immobilier. Proplace est bien positionnée pour capitaliser sur ces évolutions, avec un modèle économique qui répond aux besoins actuels et futurs des professionnels.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marché se caractérise par des acteurs fragmentés, mais une consolidation est en cours. Proplace, avec sa plateforme unifiée, se positionne comme un agrégateur de solutions, offrant une proposition de valeur complète et attractive pour les professionnels.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Magic Quadrant de Gartner nous aide à identifier les leaders et les outsiders du marché. Nous anticipons que Proplace a le potentiel de devenir un leader en consolidant son offre et en améliorant sa visibilité dans le quadrant des visionnaires et challengers.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M&amp;A Quadrant nous aide à identifier des cibles potentielles pour Proplace. Avec sa proposition de valeur intégrée, Proplace pourrait être un prédateur sur son marché, en acquérant de plus petits acteurs pour renforcer sa position et son offre.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identifié plusieurs scénarios stratégiques pour Proplace. Ces scénarios incluent des acquisitions ciblées, des partenariats stratégiques pour étendre la portée géographique et l'offre de services, et des développements internes pour anticiper les besoins du marché.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des synergies potentielles avec différents acteurs du marché met en évidence un potentiel significatif pour Proplace. Des synergies de coûts, de revenus et de capacités sont identifiables, ce qui pourrait accélérer la croissance et améliorer la rentabilité.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section Business se concentre sur la proposition de valeur, le produit, l'économie du modèle, l'équipe et le fondateur. Chaque aspect est examiné pour comprendre comment Proplace crée de la valeur et se différencie sur le marché.</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Proplace offre une proposition de valeur unique et intégrée facilitant et optimisant le travail des professionnels de l'immobilier. La plateforme s'adresse à un profil client idéal (ICP) cherchant à digitaliser et centraliser leurs opérations quotidiennes.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produit de Proplace est une plateforme technologique avancée et flexible, répondant aux besoins complexes des professionnels. Sa capacité à offrir une expérience utilisateur fluide et une intégration de fonctionnalités stratégiques en fait un atout majeur.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économies du modèle de Proplace sont solides, avec une croissance des revenus récurrents et une bonne rétention des clients. Les KPI montrent une trajectoire positive, avec des marges attractives à mesure que l'entreprise scale.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L'équipe dirigeante de Proplace est expérimentée et complémentaire, avec des antécédents solides dans la tech et l'immobilier. La structure organisationnelle est agile, favorisant l'innovation et une exécution rapide des projets.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fondateur, Pierre Dulac, est la force motrice derrière Proplace. Son parcours et son ADN entrepreneurial sont des atouts majeurs. Son engagement et sa vision sont essentiels pour le succès à long terme de l'entreprise.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section évaluation porte sur la synthèse de notre analyse sur Proplace. Nous avons examiné ses forces, faiblesses, opportunités et menaces (SWOT), ainsi que les actions stratégiques à envisager pour maximiser sa valeur.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synthèse de l'évaluation de Proplace montre un potentiel de croissance élevé, avec un marché porteur et une solution innovante. Néanmoins, il existe des défis liés à la concurrence et à la nécessité de maintenir un rythme d'innovation élevé.</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SWOT met en évidence les forces de Proplace, telles que son produit innovant et son équipe expérimentée. Les faiblesses, telles que la taille de son équipe face aux enjeux, sont bien identifiées et peuvent être abordées. Les opportunités de croissance sont nombreuses, mais la concurrence et la volatilité du marché constituent des menaces.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défini quatre stratégies clés : Défense, Offensive, Kill Shot et Remédiation. Ces actions visent à renforcer la position de Proplace, à saisir les opportunités de marché et à atténuer les risques identifiés.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thèse d'acquisition pour Proplace est basée sur sa capacité à s'intégrer dans une stratégie plus large, de type B, avec des synergies claires qui renforceront la position de l'acheteur sur le marché. Cela doit générer une valeur ajoutée significative.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thèse d'investissement est centrée sur le modèle hybride de Proplace, offrant des leviers de croissance clés. La fragilité réside dans la dépendance aux cycles immobiliers, mais la fenêtre d'opportunité est favorable à une acquisition stratégique.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synergies identifiées couvrent des domaines variés, allant de l'optimisation des coûts à l'augmentation des revenus. Elles sont classées par impact, échéance et difficulté, pour donner une vision claire de leur mise en œuvre.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identifié plusieurs 'deal killers' potentiels, tels qu'une mauvaise intégration technique ou des résistances culturelles. Pour chacun, des mesures de mitigation sont proposées pour minimiser les risques et assurer le succès de l'intégration.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conviction est forte pour Proplace, elle représente une acquisition stratégique avec un potentiel de création de valeur important. Nous sommes convaincus que Proplace est une solution robuste pour les professionnels de l'immobilier.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L'angle d'investissement est clair : capitaliser sur un marché en croissance, avec un produit différenciant et un timing opportun. L'adéquation du fondateur avec la vision stratégique globale est un facteur clé de succès.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verdict final est positif. Proplace est une cible d'acquisition à forte valeur ajoutée, avec des risques identifiés et maitrisables. La synthèse montre une opportunité de marché significative et un alignement stratégique fort.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D'un point de vue financier, la valorisation de Proplace se situe dans une fourchette attractive. Les KPIs et les comparables sectoriels confirment la pertinence de cette valorisation, avec un potentiel de création de valeur à moyen terme.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P&amp;L de Proplace montre une croissance solide et des marges saines. Les projections financières sont ambitieuses mais réalistes, basées sur les tendances du marché et la stratégie de croissance de l'entreprise. L'EBITDA est en constante amélioration.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ROI de l'investissement est très attractif, avec un MOIC de 3,5x et un IRR de 45%, ce qui dépasse nos exigences. C'est un retour sur investissement validé qui justifie pleinement l'acquisition. Nous recommandons d'avancer.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