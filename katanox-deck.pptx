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Nous allons aujourd'hui examiner Katanox, une startup Fintech qui opère dans le secteur de l'infrastructure financière automatisée pour l'hôtellerie. Fondée en 2020, Katanox se positionne comme une plateforme SaaS révolutionnaire, visant à remplacer les systèmes de paiement obsolètes par des règlements directs et une distribution automatisée, principalement en Europe et en Amérique du Nord. Notre intérêt se porte sur sa capacité à transformer un marché fragmenté et souvent inefficace. Nous avons mené une analyse approfondie pour évaluer son potentiel d'investissement.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Katanox est une plateforme SaaS qui propose une infrastructure financière automatisée spécifiquement conçue pour l'hôtellerie. Son objectif est de révolutionner les règlements directs et la distribution automatique dans ce secteur. En d'autres termes, elle vise à éliminer les intermédiaires coûteux et les processus manuels qui ralentissent traditionnellement les transactions hôtelières. Cette technologie est applicable en Europe et en Amérique du Nord, offrant un vaste champ d'action pour son développement. Nous verrons comment cette approche peut générer une valeur significative.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préambule à notre analyse approfondie, rappelons le score de pré-sélection de Katanox. Avec un score de 78 sur 100, la société se situe dans la catégorie 'Signal Mixte', ce qui signifie qu'elle présente des atouts indéniables, mais aussi des zones nécessitant une vigilance particulière. Il est important de souligner que ce score est avant l'application des pondérations de notre thèse d'investissement, ce qui affinera notre positionnement final. Ce signal mixte nous invite à explorer les nuances de son modèle et de ses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Passons maintenant à l'analyse du marché. Nous allons scruter en détail le potentiel de Katanox dans le secteur de l'hôtellerie. Nous aborderons les aspects du marché total adressable, les tendances clés et le paysage concurrentiel. Cette section est cruciale pour comprendre l'environnement dans lequel évolue Katanox. Nous verrons comment son marché est structuré, où se situent les opportunités et quels sont les défis à relever. Une compréhension fine de ces dynamiques est essentielle à notre décision d'investissement.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de marché Top-Down révèle un Marché Total Adressable (TAM) de 2,9 milliards de dollars à l'échelle mondiale pour les plateformes d'orchestration de paiements dans l'hôtellerie. En nous concentrant sur l'Europe, le Marché Adressable de Service (SAM) est de 0,85 milliard de dollars. Notre Marché Obtenable de Service (SOM) réaliste est estimé à 42,5 millions de dollars, soit 5% du SAM, un objectif ambitieux mais atteignable pour une startup early-stage. Ces chiffres, validés par des rapports sectoriels réputés, témoignent d'une opportunité de marché significative et en forte croissance. Le CAGR de 19-20% confirme cette dynamique.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analyse Bottom-Up complète cette perspective en estimant un marché adressable de 100 millions d'euros pour Katanox, basé sur un proxy de 50 000 établissements hôteliers européens et un revenu moyen de 2 000 euros par propriété par an. Cette approche, bien que plus conservative, renforce la validation du marché. Elle met en lumière un potentiel de revenus substantiel en ciblant spécifiquement la base de clients hôteliers. La triangulation des deux méthodes nous donne une confiance accrue dans les ordres de grandeur du marché. Cette granularité nous aide à affiner notre stratégie de pénétration.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triangulation des analyses Top-Down et Bottom-Up démontre une convergence significative en ordre de grandeur du marché. Le TAM global est estimé à 2,9 milliards USD, le SAM européen à 0,85 milliard USD (soit environ 765 millions €), et notre estimation Bottom-Up pour le SAM cible 100 millions €. Malgré les écarts inhérents aux méthodologies, cette cohérence renforce la fiabilité de nos estimations. Elle valide l'existence d'un marché important pour Katanox. Cette triangulation est le fondement de notre évaluation du potentiel commercial.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de la chaîne de valeur de l'infrastructure financière automatisée pour l'hôtellerie révèle l'importance cruciale de chaque étape, depuis le financement jusqu'au pilotage de la performance. Chaque maillon de cette chaîne présente des défis et des opportunités spécifiques. Katanox vise à optimiser ces processus pour les hôtels. Nous avons évalué chaque étape des flux financiers afin d'identifier celles où l'intervention de Katanox apporte le plus de valeur ajoutée. Cela nous permet de mieux comprendre l'impact systémique de sa solution.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positions stratégiques les plus importantes dans la chaîne de valeur sont la Facturation et Revenue Management (score de 8.1), les Paiements et Règlements Directs (score de 8.0) et l'Intégration et Orchestration (score de 7.2). Ces étapes se distinguent par leur forte défendabilité, leurs marges élevées typiques du SaaS et leurs perspectives de croissance exponentielle, alimentées notamment par l'intelligence artificielle et les innovations réglementaires comme la PSD2. Ces positions sont des points de levier pour Katanox, offrant des retours sur investissement particulièrement attractifs. Nous allons désormais les explorer en détail.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L'étape 'Facturation et Revenue Management' est cruciale, avec un score stratégique de 8.1. Sa haute défendabilité repose sur la complexité du pricing saisonnier et l'intelligence artificielle. Les acteurs dominants établissent des 'data moats' via l'historique des données, capturant une part importante de la valeur. Le marché bénéficie d'une croissance CAGR de 16-20% grâce à l'IA. Cette étape offre des marges premium pour les solutions SaaS. L'investissement dans ce domaine permet de capitaliser sur l'optimisation RevPAR et les capacités de pricing dynamique des hôtels.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L'étape 'Paiements et Règlements Directs' détient un score stratégique de 8.0. Sa forte défendabilité est assurée par des réseaux 'two-sided' et des réglementations comme la PSD2. Les marges sont élevées et le marché global (TAM de 2,9 Md USD) croît à un CAGR de 19%. C'est un goulet d'étranglement critique, reliant la trésorerie à la réconciliation dans un secteur fragmenté. Les plateformes d'orchestration qui dominent cette étape bénéficient d'un avantage structurel et d'un pouvoir de fixation des prix. L'investissement ici capture l'automatisation essentielle des règlements directs.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L'étape 'Intégration et Orchestration' obtient un score stratégique de 7.2, signalant un intérêt notable. Sa défendabilité repose sur les réseaux 'marketplace APIs' et sa capacité de scalabilité en tant que solution cloud. Le marché des PMS pour l'hôtellerie croît à 20% de CAGR avec l'adoption du cloud. Cette étape représente un hub d'interopérabilité essentiel pour la 'stack' financière. Malgré la domination de géants comme Oracle, il existe des niches pour des acteurs agiles. L'investissement ici ouvre des opportunités de croissance via les API et la 'embedded fintech'.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marché de l'hôtellerie est en pleine mutation. L'orchestration des paiements explose, stimulée par l'adoption des paiements PAI et l'unification européenne via Wero/EPI. Le TAM mondial atteint 2,9 milliards USD avec un CAGR de 19-20%. Cette transition est une aubaine pour Katanox. Le pouvoir est concentré à l'étape des 'Paiements et Règlements Directs', qui sert de goulet d'étranglement critique. Les acteurs traditionnels FP&amp;A peinent à s'adapter, laissant la place à des SaaS verticaux. Le pool de profits se déplace vers les services à haute marge. Ces tendances structurelles sont favorables à Katanox.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acteurs du marché sont variés, des géants établis aux startups innovantes, chacun occupant une position spécifique dans la chaîne de valeur. Par exemple, la Banque de France opère dans le financement et la gestion de trésorerie, tandis que Worldline et Stripe sont des acteurs dominants dans les paiements et règlements directs. Mews se distingue également dans les paiements et règlements directs avec une forte activité M&amp;A. Comprendre ces dynamiques concurrentielles est essentiel pour évaluer la position de Katanox. Nous allons explorer en détail le rôle et la posture de chaque acteur clé.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Magic Quadrant de la Concurrence nous permet de visualiser le positionnement des acteurs du marché en fonction de leur maturité et de leur différenciation. Les 'Leaders Établis' comme Mews et Canary Technologies montrent une forte traction et des offres robustes. Les 'Innovateurs Émergents' tels qu'Hotelverse et Katanox présentent un fort potentiel d'innovation. Il n'y a pas de produits commoditisés matures, ce qui indique un marché encore en évolution. Enfin, les 'Peu Différenciés Précoces' représentent des solutions en phase d'exploration. Ce quadrant offre une vue d'ensemble du paysage concurrentiel pour Katanox.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Quadrant M&amp;A de la Concurrence cartographie les potentiels acheteurs et cibles du marché. Les 'Prédateurs' comme Oracle Hospitality, Stripe et Mews sont des acquéreurs puissants. Les 'Aspirants', dont Katanox et Tebi, sont proactifs mais avec une capacité d'acquisition limitée. Les 'Géants', comme Adyen et Cloudbeds, ont de larges ressources mais une faible motivation M&amp;A. Enfin, les 'Cibles Potentielles' incluent Canary Technologies, Banque de France et Trevium, matures pour une acquisition ou un partenariat. Ce quadrant donne une vision des mouvements stratégiques possibles dans l'écosystème de Katanox.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Analysons maintenant les scénarios stratégiques. Ces mouvements potentiels dans le marché M&amp;A sont hypothétiques, mais ils éclairent les dynamiques concurrentielles et les opportunités pour Katanox. Nous avons identifié six types de scénarios : les batailles d'acquisition, les alliances inévitables, les menaces d'étranglement, la consolidation de marché, les cibles pivots et les opportunités manquées. Ces scénarios, générés par IA, sont conçus pour stimuler notre réflexion et anticiper les évolutions futures. Ils nous aideront à mieux évaluer la posture et les vulnérabilités de Katanox.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section des synergies entre acteurs fournit une analyse quantitative et qualitative des collaborations potentielles. Katanox, en tant qu'actif pivot, est au cœur des scénarios de consolidation. Les synergies les plus importantes se concentrent autour de l'acquisition de Katanox par des acteurs comme Mews ou Oracle Hospitality, évaluant son impact financier. Les scénarios défensifs, en revanche, ne créent pas de synergies nettes mais protègent des parts de marché. Ce tableau met en lumière la valeur stratégique de Katanox dans un écosystème compétitif et en pleine évolution.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Passons maintenant à l'analyse interne de Katanox. Cette section détaille la proposition de valeur de l'entreprise, son produit, son modèle économique, son équipe et le profil de son CEO. Nous examinerons ce qui rend Katanox unique et comment ces éléments contribuent à sa réussite ou représentent des défis. Une compréhension approfondie de ces aspects est cruciale pour valider l'adéquation de Katanox avec notre thèse d'investissement. Nous verrons comment ses forces sont exploitées et ses faiblesses gérées.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Katanox se positionne comme une plateforme d'infrastructure financière et de distribution, remplaçant les réseaux de cartes par des paiements directs. Son ICP cible les hôtels moyens européens, les groupes hôteliers et les agences de voyages. Opérant en B2B dans la Fintech, l'hôtellerie et la Travel Tech, elle vise à éliminer l'intermédiation coûteuse. Katanox est licenciée PSD2/FCA, basée à Amsterdam, Londres et New York. Des partenariats avec Travelodge et Oracle Cloud Marketplace attestent de sa traction. Sa proposition de valeur est de fluidifier les paiements, réduire les commissions et automatiser la distribution pour un gain de trésorerie.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produit de Katanox est une infrastructure financière et une plateforme de distribution pour l'hôtellerie qui s'attaque aux problèmes des paiements indirects. Ses capacités incluent l'automatisation des règlements compte-à-compte, la réconciliation des factures, et la gestion des commissions sans intermédiaires. La technologie est API-first, ce qui facilite les intégrations avec les systèmes PMS existants. Les cas d'usage typiques sont la simplification des paiements B2B et l'optimisation des flux de trésorerie. C'est une solution disruptive, axée sur la transparence et l'efficacité pour les hôteliers et les agences de voyages.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modèle économique de Katanox est basé sur des revenus hybrides, combinant des abonnements SaaS avec des commissions sur les paiements orchestrés via Katanox Capital. L'ARPU est estimé à environ 2 000 euros par an et par propriété, justifié par les économies réalisées sur les frais de cartes et la fraude. Katanox Capital, un outil de financement intégré, permet des avances de fonds et du 'Travel now pay later', renforçant la monétisation. Les plans tarifaires sont modulaires et adaptés aux besoins des hôtels et des agences de voyages. Ce modèle vise à capturer la valeur émergente de la désintermédiation.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L'équipe de Katanox est composée d'environ 50 à 150 employés répartis dans des hubs stratégiques. Elle est conseillée par des figures clés comme Rob Torres, ancien MD de Google Travel. Bien que le dossier ne détaille pas tous les rôles de leadership, l'accent est mis sur la combinaison d'expertise technique et commerciale. L'organisation est remote-first, ce qui pose des défis de scaling culturel, mais s'appuie sur une structure agile. L'entreprise met en avant un environnement de travail collaboratif pour innover rapidement et s'adapter aux exigences du marché.</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Beukers, CCO et co-fondateur de Katanox, est un opérateur commercial de plateforme avec une solide expertise FinTech. Son parcours chez Adyen comme Product Lead et Account Manager stratégique (easyJet, Lufthansa) lui confère une compréhension approfondie des paiements B2B. Il a également une expérience en conseil chez Roland Berger. Cette combinaison lui donne une capacité unique à lier les besoins commerciaux à la stratégie produit. Sa discipline, exécution et persévérance sont de hauts niveaux, mais il doit verbaliser son leadership multiplicateur. Son point aveugle potentiel résiderait dans le développement des talents, nécessitant un co-fondateur complémentaire sur la culture d'entreprise.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bref, Katanox est une plateforme d'infrastructure financière automatisée pour l'hôtellerie, résolvant le problème de la réconciliation manuelle des cartes virtuelles et des frais élevés. Sa solution est un moteur de versement B2B instantané via API natives, éliminant les intermédiaires. Le GTM cible les hôtels moyens européens et multi-sites par partenariats PMS. Le score d'attractivité du marché est de 75/100. Les avantages clés incluent l'agrément réglementaire (PSD2/FCA), la technologie Account-to-Account et Katanox Capital pour la liquidité. Le risque majeur est la dépendance aux PMS, ce qui serait fatal en cas de restriction d'API.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section SWOT de Katanox révèle un équilibre entre ses atouts et ses vulnérabilités. Parmi les Forces, citons l'expertise FinTech du fondateur, les licences réglementaires (PSD2/FCA) et les partenariats stratégiques. Les Faiblesses résident dans le financement limité, l'absence de chiffres de revenus publics et une stratégie de croissance non diversifiée. Les Opportunités sont immenses, avec un TAM en forte croissance et l'expansion de Katanox Capital. Les Menaces incluent une forte concurrence (Mews, Worldline), l'érosion par des PMS intégrés (Oracle) et les risques réglementaires (EPI/Wero). Le fossé défensif est modéré mais s'appuie sur l'effet de réseau API et les licences.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plan d'action pour Katanox se structure autour de quatre axes. Pour la Défense, il s'agit de renforcer les moats réglementaires (PSD2/FCA) et d'intégrer davantage les PMS pour se protéger des incumbents. L'Offense vise à scaler Katanox Capital sur le TAM croissant, en utilisant l'expertise du fondateur et les partenariats stratégiques. Le Coup de Grâce serait un échec à sécuriser les intégrations PMS majeures et l'épuisement du capital. Enfin, la Remédiation doit inclure le recrutement d'un Head of People pour scaler l'équipe et prouver une traction de revenus significative, priorisant les métriques team et ARPU. Nous avons également exploré des hypothèses de croissance externe.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thèse d'investissement pour Katanox est de type B – Stratégique. Katanox vise à devenir le standard d'échange monétaire et de données dans l'hôtellerie. Cette stratégie repose sur la désintermédiation des paiements, l'expansion vers la finance embarquée et la connectivité unifiée des inventaires. Les leviers principaux sont la plateforme SaaS, les licences PSD2/FCA et Katanox Capital. Les fragilités résident dans la dépendance aux PMS et la gestion de croissance rapide. La fenêtre est parfaite, avec une opportunité de 18-36 mois avant que les géants ne réagissent. Une intégration complexe des stacks financiers est le principal challenge.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synergies principales pour Katanox sont l'intégration d'une infrastructure unifiée de règlement hôtelier, l'accélération de la distribution directe via son réseau partenaire, la vente croisée de Katanox Capital aux TMC et enfin le blocage défensif des concurrents sur les paiements corporate. Ces synergies sont évaluées en termes de hard costs (économies directes) et soft revenues (gains indirects). Elles permettent de valider l'intérêt stratégique de l'acquisition pour un acteur comme S4BT. La difficulté d'intégration varie selon le type de synergie, mais l'impact financier est significatif, avec un total de 8,5 millions d'euros pour la stratégie de roll-up.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facteurs d'échec de l'acquisition reposeraient principalement sur une dette d'intégration technologique élevée, avec un risque de friction sur 12 à 18 mois pour la migration des flux de règlement vers la plateforme Katanox. Cela menacerait directement les synergies. Pour un acquéreur comme S4BT, cela impliquerait des coûts de refactoring importants. Ce risque souligne la nécessité d'une due diligence technique approfondie. Il est crucial d'évaluer la compatibilité des stacks et d'anticiper les défis d'intégration pour garantir la matérialisation des synergies financières attendues.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conviction est FORTE. Le bon alignement de cette cible sur l'angle 'Paiement, réconciliation et récupération TVA pour le voyage d'affaires' est validé à 85%. Katanox offre un 'moat' réglementaire PSD2/FCA intraitable sur 18-36 mois, une traction CFO via A2A et une réconciliation automatique, parfaitement alignées sur les mandats UE 2025-2026. L'expertise Adyen du fondateur, couplée aux licences actives et à la connectivité Oracle, crée une barrière réglementaire que S4BT ne peut reproduire en interne. Ce "MUST_ACQUIRE" assure un avantage opérationnel immédiat. Les risques sont la dépendance aux intégrations PMS et le burn rate.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Passons maintenant aux prévisions financières. Nous examinerons l'ARR d'entrée, les taux de croissance, les marges et les OPEX. Nous avons modélisé un compte de résultat prévisionnel (P&amp;L) sur cinq ans. Ce P&amp;L intègre les synergies d'acquisition, montrant l'impact sur le CA et l'EBITDA. Les prévisions de flux de trésorerie (FCF) sont également détaillées, soulignant la capacité de Katanox à générer du cash. Ces projections sont basées sur des hypothèses clés et des benchmarks sectoriels, avec une possibilité d'ajustement. Cette section est essentielle pour évaluer la viabilité économique de l'investissement.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 prévisions de compte de résultat intègrent un ARR d'entrée de 2,36 millions d'euros avec une croissance annuelle dégressive. Les revenus incluent des parts d'interchange, d'abonnement plateforme, de revenus de trésorerie et de marge FX. Les synergies M&amp;A sont ajoutées, comme l'accélération de la distribution et le blocage défensif, propulsant le revenu total post-synergies à 27,08 millions d'euros en Y5. La marge brute est stable à 73%. Les OPEX sont détaillées par département. L'EBITDA post-synergies atteint 19,41 millions d'euros en Y5, avec une marge de 71,7%. Ces chiffres reflètent la création de valeur de l'acquisition.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flux de trésorerie prévisionnels montrent un NOPAT standalone initialement négatif, mais qui devient positif sur la période. En intégrant les D&amp;A, les CapEx et la variation du BFR, le Free Cash Flow standalone évolue favorablement. Plus important, les synergies M&amp;A, qui totalisent 40,16 millions d'euros de cash net annuel en Y5, transforment radicalement le FCF total post-synergies. Ce dernier atteint 40,04 millions d'euros en Y5, pour un cumul de 194,98 millions d'euros sur la période. Ces flux massifs sont la preuve de la création de valeur de l'acquisition et de la solidité du deal, même avec le risque d'intégration technologique.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ROI est très positive, avec un verdict de 'Hurdles Atteints'. Pour un Entry EV de 4,2 millions d'euros, l'Acquisition Value totale est de 123,9 millions d'euros, dont 119,8 millions d'euros proviennent des synergies nettes. Le MOIC est de 29,58x, largement supérieur à l'objectif de 1.10x du fonds. L'IRR est de 338.2%, bien au-delà du seuil de 10.0%. Cela signifie que pour chaque euro investi, nous récupérons 29,58 euros, avec un rendement annuel exceptionnel. Ces chiffres valident pleinement l'opportunité. La conviction qualitative étant 'CALL', nous avons un alignement complet entre les aspects quantitatifs et qualitatifs de l'analyse.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