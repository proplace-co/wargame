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à tous. Aujourd'hui, nous allons nous pencher sur Tripstax, une entreprise positionnée comme une plateforme SaaS d'infrastructure de données pour le voyage d'affaires. Leur proposition de valeur est particulièrement pertinente dans un marché en pleine mutation, où la digitalisation et la nécessité d'optimisation des coûts sont devenues cruciales pour les agences de voyages et les entreprises clientes. Tripstax offre des solutions pour centraliser et simplifier la gestion des données de voyage, un enjeu majeur pour l'efficacité opérationnelle. Nous allons explorer en détail leur proposition de valeur, leur positionnement sur le marché et le potentiel synergétique avec notre groupe. Notre objectif est de déterminer si Tripstax représente une opportunité d'acquisition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une vue d'ensemble de Tripstax. Nous parlons d'une PME rentable, basée au Royaume-Uni. Son cœur de métier est de fournir une infrastructure de données pour la technologie du voyage. Plus précisément, ils développent une plateforme SaaS destinée aux agences de voyages d'affaires et aux grandes entreprises. Leur mission est de révolutionner la gestion des voyages d'affaires en découplant la technologie de l'économie transactionnelle coûteuse, typique des anciens systèmes. Ils se positionnent comme une 'plomberie intelligente' pour les agences, unifiant toutes les données de réservation en un seul endroit pour réduire les coûts et la complexité. Leur point fort est d'éviter les frais additionnels à chaque manipulation de données. C'est une approche audacieuse et potentiellement très disruptive.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cette diapositive, nous avons une synthèse du score de pré-sélection pour Tripstax. Nous obtenons un score de 88 sur 100, ce qui est un 'SIGNAL FORT'. Ce score est une évaluation brute avant l'application des pondérations spécifiques à notre thèse d'investissement. Les différentes composantes, comme l'excellence de l'équipe, l'opportunité de marché, l'innovation produit et le modèle économique, affichent toutes des scores très élevés, autour de 85-92 sur 100. La traction et la croissance sont également solides à 87 sur 100. Ce résultat indique que Tripstax satisfait à la plupart de nos critères préliminaires, suggérant un alignement prometteur avec notre stratégie de consolidation. Nous allons maintenant détailler chacun de ces aspects.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section suivante se focalise sur les dynamiques de marché. Le marché est un facteur clé de notre évaluation, et nous avons effectué une analyse approfondie pour comprendre son attractivité et les opportunités qu'il présente. Nous allons examiner la taille du marché, les principaux moteurs de croissance, le moment opportun pour intervenir et les éventuels risques. Cette analyse nous aidera à confirmer si l'environnement est propice à un investissement stratégique dans une entreprise comme Tripstax. Il est essentiel de valider que Tripstax évolue dans un écosystème porteur et de comprendre les forces et les faiblesses inhérentes à ce secteur. Ces éléments sont cruciaux pour notre décision.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mené des analyses de marché top-down et bottom-up pour valider la taille et les opportunités. L'approche top-down estime un TAM global de 11 milliards de dollars US pour la technologie du voyage. Le SAM européen, plus pertinent pour notre cible, est estimé à 3 milliards de dollars US, ce qui représente un marché significatif. Le SOM, ou marché que Tripstax peut concrètement capturer, est évalué entre 60 et 500 millions d'euros, ce qui est réaliste pour une startup. Ces chiffres proviennent de rapports d'industrie fiables, notamment sur le marché de la technologie du voyage et les dépenses IT en Europe. Il est important de noter que notre analyse confirme une expansion constante du TAM, portée par la digitalisation. Ces données corroborent la viabilité de l'opportunité de marché.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complément de notre approche top-down, nous avons réalisé une analyse bottom-up, qui corrobore les estimations de marché. Cette méthode consiste à partir des segments de clients potentiels et de l'économie unitaire. Nous avons identifié entre 150 et 400 grandes organisations en Europe, ainsi que des milliers de PME, comme clients cibles pour l'infrastructure de données dans le voyage. Le revenu moyen par utilisateur (ARPU) est estimé entre 20 000 et 25 000 euros par mois pour un abonnement hybride, incluant une base fixe et l'usage. Ces chiffres, bien que basés sur des analyses synthétiques, nous permettent de calculer un SAM entre 3 et 10 milliards d'euros par an. Une triangulation des deux approches confirme un SOM réaliste de 60 à 500 millions d'euros, ce qui renforce notre confiance dans la taille du marché adressable pour Tripstax. L'image sur la droite illustre cette approche.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triangulation de nos analyses top-down et bottom-up révèle une forte convergence. L'approche top-down estime un TAM de 11 milliards de dollars et un SAM européen de 3 milliards de dollars. De son côté, l'approche bottom-up confirme un SAM entre 3 et 10 milliards d'euros, avec une extrapolation d'un TAM plus large. Ces deux méthodes, bien que basées sur des proxies et des données synthétiques, valident un SOM réaliste entre 60 et 500 millions d'euros, qui est une cible accessible pour une entreprise comme Tripstax. Cette cohérence entre les différentes estimations renforce la fiabilité de nos projections de marché. Cela confirme que Tripstax évolue dans un marché avec un potentiel de croissance significatif, même si les chiffres exacts peuvent varier. C'est un élément clé pour valider notre thèse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maintenant l'analyse de la chaîne de valeur, un élément fondamental pour comprendre le positionnement stratégique de Tripstax. Nous avons décomposé le secteur en plusieurs étapes, de la collecte des données à leur utilisation finale, et évalué le score stratégique de chaque étape. Ce score combine la défendabilité, le potentiel de marge et la croissance. Tripstax se positionne principalement dans l'étape de Distribution et Accès aux Données. Cette section nous permet de visualiser où se situe Tripstax dans l'écosystème global de la technologie du voyage et d'identifier les étapes les plus attractives en termes de création de valeur.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L'étape de collecte et génération des données, où opèrent principalement les opérateurs de GDS comme Amadeus, Sabre et Travelport, affiche un score stratégique de 6,5. Sa défendabilité est forte en raison des investissements historiques en infrastructure, de la complexité technique et des barrières réglementaires. Cependant, le potentiel de marge est modéré par les coûts variables. Bien que la croissance soit solide à 10% dans la Travel Tech, cette étape est plus adaptée aux acteurs établis qu'aux startups. La consolidation du marché par quelques géants représente un risque pour les petits entrants. Pour l'investissement, la défendabilité est élevée, mais les barrières à l'entrée sont massives, rendant cette étape moins appropriée pour les nouveaux acteurs. L'image illustre cette étape.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L'ingestion et l'intégration des données, où l'on trouve des fournisseurs cloud génériques comme AWS, Google Cloud et Microsoft Azure, se caractérisent par un score stratégique faible de 3,4. La défendabilité est limitée par les coûts de capital bas et l'absence de protection IP forte, ce qui facilite l'entrée de concurrents. Le potentiel de marge est également faible en raison de la commoditisation des services cloud. Malgré une croissance élevée du cloud de 9% en Europe, cette étape est peu attrayante pour l'investissement en raison de sa faible défendabilité. Le succès ici exige une expertise en orchestration de pipelines complexes et des connecteurs personnalisés, mais les marges sont érodées par la guerre des prix des hyperscalers. C'est une étape de coûts optimisés, pas de valeur ajoutée différenciée, pour Tripstax.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stockage et la gestion des données, avec des acteurs comme Snowflake, Google BigQuery et AWS Redshift, révèlent un score stratégique de 6,7, indiquant un segment fort. Le potentiel de marge est maximal, avec des marges brutes typiques de 70 à 85% dans l'infrastructure, grâce aux économies d'échelle et au pouvoir de fixation des prix premium. De plus, la croissance est élevée, tirée par l'expansion du cloud et les migrations vers les architectures lakehouse. Cependant, la défendabilité est relativement faible. Dépendante des hyperscalers, cette étape est attrayante pour l'investissement en raison de ses marges parfaites et de sa croissance, mais elle n'offre pas de moats solides face à la concurrence. Conformité RGPD et expertise en gouvernance sont cruciales pour la confiance des clients.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L'étape de traitement, transformation et enrichissement, où des outils comme dbt, Airflow et Fivetran opèrent, affiche un score stratégique de 7,2, démontrant une force importante. Sa défendabilité est modérée, boostée par une complexité technique élevée pour les pipelines temps réel et le ML, ainsi que par l'IP propriétaire via des algorithmes d'enrichissement. Le potentiel de marge est élevé, grâce à un pouvoir de prix premium basé sur la valeur ajoutée et de fortes économies d'échelle. La croissance est aussi élevée, portée par l'expansion du TAM via l'IA et le ML, offrant une opportunité d'innover. Cette étape est très attractive pour les investissements, surtout pour les startups qui se différencient par leur technologie, bien que le risque de commoditisation par l'open-source soit présent. Les compétences en ML propriétaire sont essentielles pour un enrichissement précis.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L'étape de Distribution et Accès aux Données, où Tripstax se positionne, obtient un score stratégique exceptionnel de 9,1 sur 10. C'est le score le plus élevé de toute la chaîne de valeur. Cette étape se caractérise par une défendabilité maximale, grâce à des APIs propriétaires, des effets de réseau forts et des coûts de changement élevés pour les intégrations clients. Le potentiel de marge est parfait, avec un ARPU (revenu moyen par utilisateur) élevé et des marges brutes de 70-85%. La croissance est également élevée, portée par l'IA et la personnalisation. Cette étape est hautement attractive pour l'investissement, avec un timing idéal dû à la digitalisation accélérée du voyage d'affaires post-pandémie. Tripstax, avec ses API stables et sa stricte conformité RGPD, est idéalement positionnée pour capter cette valeur. C'est le cœur de notre thèse.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Enfin, l'utilisation et l'analyse par les utilisateurs finaux, qui englobe les outils BI comme Tableau, Looker et Power BI, présente un score stratégique modéré de 4,4. La défendabilité est faible en raison de la commoditisation des outils BI SaaS et de l'absence de moats significatifs. Le potentiel de marge est modéré, mais contraint par la forte concurrence sur les prix. La croissance est également modérée, avec un marché BI mature. Cette étape est peu attractive pour l'investissement, car elle est hyper-compétitive et n'offre pas d'opportunités de croissance explosive pour les nouveaux entrants. Bien que des data scientists experts en insights métier voyage soient nécessaires, le risque de multi-tool est élevé, réduisant l'intérêt stratégique de cette position. Tripstax doit éviter de se positionner exclusivement ici.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des étapes de la chaîne de valeur, les trois positions stratégiques les plus importantes sont clairement identifiées. L'étape 5, Distribution et Accès aux Données, arrive en tête avec un score de 9,1. Tripstax y excelle grâce à des APIs propriétaires, des effets de réseau robustes, des marges élevées et une croissance forte. L'étape 4, Traitement, Transformation et Enrichissement, suit avec un score de 7,2, valorisant les pipelines ML temps réel et l'IP propriétaire. Enfin, l'étape 3, Stockage et Gestion des Données, obtient 6,7, offrant des marges maximales et une croissance tirée par le cloud. Ces trois étapes constituent le cœur de notre opportunité d'investissement. L'image de droite résume ces positions stratégiques. Notre focus sur Tripstax est donc intrinsèquement lié à la force de l'étape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passons aux grandes tendances du marché qui façonnent l'industrie de la technologie du voyage. Premièrement, la digitalisation et l'IA sont des catalyseurs majeurs, propulsant le TAM global de 11 à 28-29 milliards de dollars US d'ici 2034, avec un CAGR de 10%. Deuxièmement, l'étape de Distribution et Accès aux Données est devenue le goulet d'étranglement critique, détenant un pouvoir de prix disproportionné avec des marges de 10/10. Les plateformes SaaS comme Tripstax, avec un ARPU de 20-25k€/mois, capitalisent sur cette position. Troisièmement, des acteurs comme Salesforce Mulesoft ou Travelgate, bien que matures, perdent du terrain à cause de leur obsolescence et d'une différenciation limitée face aux innovateurs spécialisés en IA. Enfin, le bassin de profits se déplace vers la distribution et le traitement des données, favorisant les modèles SaaS hybrides qui répondent aux besoins RGPD et IA du voyage d'affaires. Ces dynamiques confirment la pertinence de l'approche de Tripstax.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présente une cartographie des principaux acteurs de la chaîne de valeur, classés par taille, posture d'acquisition, différenciation et étape de la chaîne de valeur. Les 'Predators', comme Amadeus et TravelPerk, sont des chasseurs avec une forte capacité d'acquisition. Les 'Aspirants', comme dbt ou Trippz, ont une capacité plus limitée mais sont opportunistes. Les 'Giants', tels que Sabre ou Snowflake, sont des forteresses avec des poches profondes mais un faible appétit M&amp;A. Enfin, les 'Cibles Potentielles', comme Tripstax, Travel Scrape ou Open Travel Data, ont une faible capacité et une posture passive, ce qui les rend mûres pour une acquisition. Tripstax, avec une différenciation de 10, est clairement une cible convoitée au vu de son positionnement dans la value chain. Comprendre ce paysage est essentiel pour anticiper les mouvements M&amp;A.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Magic Quadrant des concurrents fournit une vue synthétique du positionnement des entreprises sur deux axes : la maturité et la différenciation. Actuellement, aucun 'Leader Établi' n'a été identifié, ce qui suggère une opportunité pour Tripstax d'atteindre ce statut en combinant maturité et innovation. Tripstax se trouve dans le quadrant des 'Innovateurs Émergents', aux côtés de Bright Data, Trippz, Duffel et Travelopro. Ces entreprises, bien que potentiellement jeunes, montrent une forte différenciation et un potentiel de croissance élevé. Par contraste, des acteurs 'Matures et Commoditisés' comme Salesforce Mulesoft ou Travelgate, malgré leur maturité, peinent à se différencier. Enfin, le quadrant 'Tôt et Peu Différencié' regroupe des entreprises comme Crosscut ou Travel Scrape, qui sont à un stade précoce sans proposition de valeur unique. Tripstax est donc bien positionnée en tant qu'acteur innovant avec un fort potentiel. L'image sur la droite illustre cette positionnement.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quadrant M&amp;A nous permet de visualiser les scénarios de transactions simulés, en catégorisant les acteurs selon leur capacité et leur posture d'acquisition. Nous identifions les 'Prédateurs' comme Amadeus et TravelPerk, dotés d'une forte capacité et d'une posture active, cherchant à consolider leur position. Les 'Aspirants' sont des acteurs comme Travelport ou dbt, avec une capacité plus limitée mais une posture opportuniste. Les 'Géants', dont Sabre et Snowflake, ont une forte capacité mais un faible appétit M&amp;A. Enfin, les 'Cibles Potentielles', comme Tripstax, sont des entreprises avec une faible capacité et une posture passive, mûres pour une acquisition. Tripstax est une cible intéressante pour les prédateurs car elle offre une forte différenciation et un potentiel d'intégration vertical. L'image met en évidence ces dynamiques de marché et les motivations derrière de potentiels accords.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présente plusieurs scénarios stratégiques hypothétiques qui pourraient façonner le marché. Nous avons exploré des consolidations où un concurrent établi acquiert une startup SaaS fintech pour renforcer ses services bancaires. Nous avons également envisagé une grande entreprise technologique acquérant une startup d'analyse de données pour amplifier ses offres marketing. Dans le domaine de la défense contre les menaces émergentes, une compagnie d'assurance pourrait acquérir une startup de cyberassurance. Enfin, des acquisitions de technologies d'IA, comme une entreprise pharmaceutique acquérant une startup d'IA pour optimiser la découverte de médicaments. Ces scénarios, générés par l'IA, sont des pistes de réflexion pour anticiper les mouvements stratégiques et pour mieux positionner Tripstax dans cet environnement dynamique.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section suivante se penche sur l'analyse approfondie de l'entreprise Tripstax. Nous allons décortiquer sa proposition de valeur, les détails de son produit phare, 'The Core', son modèle économique, ainsi que l'équipe dirigeante. L'objectif est de comprendre en profondeur ce qui rend Tripstax unique, comment ils créent de la valeur pour leurs clients, et quels sont les atouts clés de leur organisation. Cette analyse est essentielle pour valider l'alignement de Tripstax avec notre thèse d'investissement et pour identifier les forces et les faiblesses internes qui pourraient influencer une potentielle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proposition de valeur de Tripstax est de révolutionner la gestion des voyages d'affaires en découplant la technologie de l'économie transactionnelle coûteuse via un écosystème centralisé qu'ils nomment 'plomberie intelligente'. Leur profil client idéal est constitué d'agences de gestion de voyages (TMC) et de grandes entreprises européennes gérant leurs propres déplacements. Tripstax est une solution B2B SaaS, positionnée dans l'infrastructure de données pour la technologie du voyage. Le PDG, Jack Ramsey, est un initié du secteur, et l'entreprise s'appuie sur plus de 25 ans de R&amp;D collective. Parmi leurs clients figurent de grands noms comme ATPI, et ils sont reconnus comme l'une des 'Hot 25 Travel Startups 2025' par PhocusWire. Leur solution principale, 'The Core', unifie toutes les données de réservation en un seul enregistrement, éliminant les multiples frais de transaction et réduisant la complexité. En clair, ils offrent une solution modulaire, conforme au RGPD et PCI DSS, avec des capacités IA pour l'enrichissement des données et une intégration SSO. Ils visent à réduire les frictions coûteuses liées aux données fragmentées. Leur modèle économique est un SaaS disruptif basé sur l'abonnement ou des frais de stockage uniques, à l'opposé des frais de transaction traditionnels. En résumé, Tripstax est une solution technologique innovante qui simplifie et optimise la gestion des voyages d'affaires grâce à une infrastructure de données unifiée.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produit phare de Tripstax est 'The Core', un moteur centralisé de traitement de données qui gère le stockage et la transmission des profils et réservations. Il se positionne comme un middleware de données SaaS pour les agences de voyages d'affaires. L'encyclopédie des fonctionnalités de 'The Core' est riche et modulaire, incluant des modules comme TripStax Content pour l'intégration multi-sources, TripStax Hotels pour la réservation hôtelière, et TripStax Profiles pour la gestion des profils voyageurs. Des fonctionnalités avancées basées sur l'IA, comme l’analyse NLQ (Natural Language Query) et les tableaux de bord personnalisables, sont également intégrées, ainsi que des outils pour la durabilité et la conformité, y compris le suivi des émissions carbone. Sur le plan technique, la plateforme s'appuie sur une API REST, le Single Sign-On, et des intégrations GDS robustes, tout en étant conforme aux normes PCI DSS et RGPD. Ces capacités permettent de consolider les données fragmentées, de réduire les frais de segments passifs des GDS, et d'assurer la conformité aux politiques de voyage et au devoir de protection. En bref, 'The Core' est une solution complète et évolutive. L'image montre un aperçu des fonctionnalités de 'The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économique de Tripstax est un SaaS disruptif basé sur une structure 'Core + Modules'. Il est conçu pour être une PME rentable. La principale innovation réside dans leur approche de tarification : un seul paiement pour les frais de transaction, quel que soit le nombre de modules utilisés. Cette stratégie se distingue radicalement des systèmes traditionnels qui facturent des frais multiples à chaque manipulation de données. Les flux de revenus proviennent principalement des frais de stockage de données centralisés et des abonnements aux modules 'à la carte'. Bien qu'il n'y ait pas de niveaux de prix fixes mentionnés, la proposition 'pay only once' encourage l'adoption de plusieurs modules, créant ainsi des opportunités d'upsell. Ce modèle élimine les coûts cachés et les frais de transaction multiples, ce qui constitue un avantage économique majeur pour les clients. Les données précises sur les 'setup fees', 'minimum commitments' ou 'trial details' ne sont pas publiques, mais la nature du modèle est clairement attrayante pour notre thèse.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 de Tripstax est dirigée par Jack Ramsey, qui est CEO depuis 2021. Son parcours est celui d'un expert du secteur, ayant passé plus de 8 ans chez Travelport où il a occupé des rôles clés dans les ventes globales pour Hotelzon et Locomote. Cette expérience lui confère une connaissance intime des défis du marché du voyage. L'équipe de développement est composée d'innovateurs dédiés, avec une expertise collective de 25 ans dans le secteur. Des renforcements notables incluent la nomination d'un Chief Strategy Officer en juin 2023, ainsi que la présence d'un Global Head of Sales et d'un Chief Product Officer. Bien que l'effectif exact ne soit pas précisé, la structure de l'équipe semble solide et orientée vers l'expansion internationale, avec un équilibre entre les fonctions technologiques et commerciales. Le fait que Tripstax ait été créée via un investissement du groupe ICG, propriétaire d'ATPI, est un signal fort de soutien et de crédibilité. L'image illustre la force de l'équipe.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L'évaluation du CEO, Jack Ramsey, révèle un profil d'« Industry Insider &amp; Operator » avec un score de 79/100 pour le DNA fondateur. Son pedigree est mixte, avec une expérience significative chez Travelport et ATPI, compensant une formation universitaire plus régionale. Sa loyauté et sa ténacité sont avérées par plus de 8 ans chez Travelport, ce qui démontre sa capacité à exécuter sur le long terme. Son adéquation commerciale est excellente, grâce à son expertise approfondie dans les ventes globales du secteur du voyage. Jack Ramsey se distingue par sa forte résilience, discipline et exécution, ce qui fait de lui un leader capable de surmonter les défis. Son point de vigilance réside dans un manque de 'self-belief' radicalement contrariant, privilégiant la progression structurée. Pour une entreprise comme Tripstax, ses forces sont un atout majeur, bien qu'un complément avec un profil orienté innovation radicale pourrait enrichir l'équipe. L'image présente le profil de Jack Ramsey.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nous résumons les points clés de l'évaluation de Tripstax. Nous avons un score de pré-sélection de 88/100, un 'SIGNAL FORT'. Tripstax est une plateforme SaaS qui permet aux agences de voyages d'affaires de consolider des données fragmentées via 'The Core', résolvant ainsi le problème des multiples frais de transaction GDS et le manque de vue unifiée. Les scores de l'équipe, de l'opportunité de marché, de l'innovation produit et de la traction sont tous robustes. Le CEO, Jack Ramsey, est un expert sectoriel, parfaitement aligné avec notre thèse. Le risque principal est la dépendance aux flux de données GDS, mais le moat de Tripstax est fort grâce aux coûts de changement élevés et à l'effet de réseau de données naissant. Notre kit de préparation souligne des questions cruciales pour la première réunion, notamment sur les déclencheurs d'adoption par les TMC et la résilience face à une guerre des prix des GDS. En bref, c'est un actif stratégique de premier plan. L'image récapitule les points essentiels.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à l'analyse SWOT de Tripstax, les forces, les faiblesses, les opportunités et les menaces. Parmi les forces, on note l'expertise de Jack Ramsey, le positionnement stratégique à forte marge dans l'étape 5 de la chaîne de valeur, le modèle SaaS disruptif, les investissements en IA pour l'analytics, et la reconnaissance comme 'Hot 25 Travel Startups 2025' avec plus de 400 clients. Les faiblesses incluent le pedigree académique mixte du CEO, l'équipe de direction peu détaillée, un rôle chevauchant à ATPI, un SOM réaliste limité, et la dépendance aux partenariats GDS pour les flux de données. Côté opportunités, le SAM européen de 3 milliards USD, les tendances IA et durabilité, la récupération des voyages d'affaires post-pandémie, et l'avantage RGPD sont notables. Enfin, les menaces sont la concurrence des géants GDS, la commoditisation par les hyperscalers, les cycles économiques défavorables, et l'émergence de startups IA natives. Cette analyse complète offre une vision équilibrée du potentiel de Tripstax.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 d'action pour Tripstax est structuré autour de quatre axes. Pour la 'Défense', les APIs uniques et la conformité RGPD/PCI DSS garantissent la fidélité des clients TMC, créant un verrouillage majeur. Le score stratégique de 9,1 à l'étape 5 par Tripstax, avec son IP propriétaire et ses effets de réseau, renforce cette posture défensive. Côté 'Offensive', Tripstax capitalisera sur sa niche grâce aux APIs propriétaires et à l'expertise de Jack Ramsey pour signer 3-20 clients TMC avec un ARPU de 20-25k€ par mois. L'expansion aux États-Unis et les mises à niveau IA transformeront 'The Core' en une plateforme indispensable. Le 'Coup de Grâce' serait une récession combinée à une dépendance aux GDS non diversifiée, menant à une chute des revenus. Un échec de l'expansion aux États-Unis sans équipe locale éroderait les marges, pouvant mener à une liquidation. Enfin, la 'Remédiation' passe par le recrutement d'un CTO et d'un CGO avec une expertise en IA pour compléter le profil de Jack Ramsey, accélérer l'enrichissement ML, et clarifier la structure post-spinout pour attirer les investisseurs de série A, réduisant la dépendance au seul CEO. Ce plan couvre l'ensemble des défis et opportunités.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ce qui concerne la stratégie de croissance externe hypothétique de Tripstax, nous identifions trois types de cibles clés. Premièrement, l'acquisition d'entreprises spécialisées dans l'orchestration des flux TMC, pour automatiser les workflows opérationnels via des plateformes SaaS d'intégration ERP et RH. Cela comblerait le fossé entre les systèmes hérités et l'automatisation moderne. Deuxièmement, des solutions d'infrastructure de données voyage, pour renforcer et normaliser les données de profil et réservations GDS/NDC, devenant ainsi la source de vérité unique du voyageur. Enfin, l'automatisation de l'inventaire hôtelier via une plateforme B2B d'agrégation et de réservation dynamique, pour une connexion directe avec les chaînes mondiales sans frais de transaction par segment. Ces acquisitions seraient typiquement des scale-ups européennes et nord-américaines avec un ARR de 1 à 20 millions d'euros, à des stades Seed à Series B, opérant sur des modèles SaaS, API-first ou d'infrastructure pay-per-use. L'objectif est de consolider Tripstax en tant qu'épine dorsale opérationnelle pour les agences de voyages d'affaires mondiales.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aborderons maintenant les synergies profondes entre Tripstax et sforbt. Cette analyse, bien que spéculative, est cruciale pour évaluer le potentiel de création de valeur d'une acquisition. Elle nous permet de voir comment l'intégration de Tripstax pourrait renforcer notre positionnement stratégique et générer des avantages significatifs, tant en termes de revenus que de coûts. Notre objectif est de déterminer si l'équation 1+1=3 est réalisable. Ces synergies seront détaillées pour chaque domaine pertinent, allant du déploiement chez nos partenaires à la consolidation de nos outils techniques, offrant une vision complète de l'impact potentiel.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résumé des synergies avec sforbt confirme que cette acquisition s'inscrit directement dans notre mandat stratégique de construire une plateforme dominante pour la gestion de voyage d'affaires en Europe. Tripstax active deux angles clés de notre thèse : 'Logiciel de workflow pour agences de voyages d'affaires' et 'Connecteurs ERP et middleware d'intégration'. La logique 1+1=3 est directe et vérifiable : en déployant 'The Core' auprès de nos partenaires TMC existants, nous multiplions l'ARR de Tripstax sans coût d'acquisition client. L'alignement SWOT est solide, car Tripstax comble notre faiblesse en middleware TMC. Le risque principal reste la dépendance aux flux de données GDS, mais notre partenariat existant avec Amadeus atténue ce risque. En conclusion, cette acquisition crée une valeur composée défendable, mais l'intégration doit être rapide, avant que des concurrents comme TravelPerk ne verrouillent le marché. La fenêtre d'opportunité est étroite, entre 2025 et 2027. L'image illustre la complexité d'intégration, évaluée à un niveau 'Medium'.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première synergie majeure est le déploiement de 'The Core' de Tripstax auprès de nos partenaires TMC, tels que CRC Allemagne, Havas Voyages France et BCD Travel, sans cycle de vente additionnel. Cette synergie est classée comme 'Soft Revenue' et 'High Impact'. En utilisant nos contrats-cadres existants, nous pouvons intégrer rapidement 'The Core', évitant ainsi un cycle de vente de 9 à 18 mois et générant un ARR incrémental immédiat pour Tripstax. La logique est que S4BT possède la distribution TMC, et Tripstax la technologie, ce qui génère une valeur significative. L'impact financier projeté est de 2 millions d'euros d'ARR additionnel d'ici l'année 5. Cette initiative consolide la dépendance de nos partenaires TMC à notre écosystème, renforçant le NRR du groupe. La faisabilité est élevée, bien que la liberert contractuelle des TMC partenaires à adopter 'The Core' doive être validée. L'image de droite présente un tableau détaillé des synergies potentielles par rang et type.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synergie clé est un blocage défensif face à des acquisitions potentielles de Tripstax par des concurrents comme TravelPerk ou Amadeus. Cette synergie est classée comme 'Defensive Moat' avec un 'High Impact'. Si TravelPerk ou Amadeus acquéraient Tripstax, ils pourraient utiliser 'The Core' pour renforcer leur propre offre, fragilisant nos partenariats avec CRC et Havas Voyages. En acquérant Tripstax, S4BT neutralise cette menace et préserve notre accès privilégié à ces TMC. La valeur de cette synergie est asymétrique, difficile à chiffrer directement, mais on estime qu'elle préserve 5 à 10 millions d'euros d'ARR pour S4BT sur 5 ans. Cette initiative est cruciale pour le positionnement stratégique à long terme de S4BT et justifie une prime d'acquisition modérée. Le risque d'échec est principalement lié à un éventuel accord déjà en cours entre Tripstax et un concurrent. Le coût d'intégration défensive est minimal, la valeur se matérialisant dès la finalisation de l'acquisition.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synergie identifiée concerne la réduction du coût par transaction dans nos desks agents chez CRC et Havas Voyages. Classée 'Hard Cost' avec un impact 'Medium', cette synergie vise à centraliser les flux de données de réservation via 'The Core' de Tripstax. Actuellement, la multiplicité des points de contact avec les GDS génère des frais de segment passifs élevés. En normalisant ces données, 'The Core' permettra d'éliminer entre 30 et 50% des manipulations redondantes, ce qui représente une économie significative pour nos entités TMC. Pour les deux entités combinées, l'économie estimée pourrait atteindre 500 000 euros par an d'ici l'année 5. Cette synergie dépend de la capacité de 'The Core' à gérer activement les PNR (Passenger Name Record) pour une élimination effective des frais, un point à valider en due diligence technique. Cette réduction des coûts directs contribuera à améliorer les marges opérationnelles consolidées du groupe. Cette synergie est directement liée à la capacité de 'The Core' à gérer les PNR activement, en lecture-écriture. L'image illustre le tableau des synergies potentielles.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